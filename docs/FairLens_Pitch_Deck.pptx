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Google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?>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GoogleSans-regular.fntdata"/><Relationship Id="rId21" Type="http://schemas.openxmlformats.org/officeDocument/2006/relationships/slide" Target="slides/slide15.xml"/><Relationship Id="rId24" Type="http://schemas.openxmlformats.org/officeDocument/2006/relationships/font" Target="fonts/GoogleSans-italic.fntdata"/><Relationship Id="rId23" Type="http://schemas.openxmlformats.org/officeDocument/2006/relationships/font" Target="fonts/GoogleSans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font" Target="fonts/GoogleSa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07f7ad1a1_2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c07f7ad1a1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c07f7ad1a1_2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c07f7ad1a1_2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c07f7ad1a1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c07f7ad1a1_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07f7ad1a1_2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c07f7ad1a1_2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07f7ad1a1_2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c07f7ad1a1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07f7ad1a1_2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c07f7ad1a1_2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c07f7ad1a1_2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07f7ad1a1_2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c07f7ad1a1_2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c07f7ad1a1_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07f7ad1a1_2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c07f7ad1a1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c07f7ad1a1_2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07f7ad1a1_2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c07f7ad1a1_2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c07f7ad1a1_2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GB" sz="4000" u="none" cap="none" strike="noStrike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rPr>
              <a:t>Guidelines</a:t>
            </a:r>
            <a:endParaRPr b="1" i="0" sz="4000" u="none" cap="none" strike="noStrik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0" name="Google Shape;100;p25"/>
          <p:cNvSpPr txBox="1"/>
          <p:nvPr/>
        </p:nvSpPr>
        <p:spPr>
          <a:xfrm>
            <a:off x="609900" y="1711275"/>
            <a:ext cx="7924200" cy="25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 xml:space="preserve">Kindly use the given template for submitting your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prototype</a:t>
            </a: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(Make a copy of the template)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One team is only required to submit one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Follow this template while preparing your presentation.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You are welcome to add as many POCs and design concepts to support your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project should be feasible and the team members should be capable enough, to come up with the fully functioning prototype of the same idea, if required.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 xml:space="preserve">In case of queries, kindly reach out to us at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solutionchallengesupport@hack2skill.com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01" name="Google Shape;101;p2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5"/>
          <p:cNvSpPr txBox="1"/>
          <p:nvPr/>
        </p:nvSpPr>
        <p:spPr>
          <a:xfrm>
            <a:off x="65700" y="3897125"/>
            <a:ext cx="9012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FF0000"/>
                </a:solidFill>
                <a:latin typeface="Google Sans"/>
                <a:ea typeface="Google Sans"/>
                <a:cs typeface="Google Sans"/>
                <a:sym typeface="Google Sans"/>
              </a:rPr>
              <a:t>Note: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 xml:space="preserve"> Prototype must include cloud deployment and use at least one Google AI model or service (e.g., Gemini) as part of the solution.</a:t>
            </a:r>
            <a:endParaRPr sz="15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b="0" l="0" r="0"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FairLens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Abiruth S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 Unbiased AI Decision — Fairness in Automated Decisions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FairLens: AI Bias Detection &amp; Mitigation Platform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ContentBox800"/>
          <p:cNvSpPr txBox="1"/>
          <p:nvPr/>
        </p:nvSpPr>
        <p:spPr>
          <a:xfrm>
            <a:off x="183250" y="1420000"/>
            <a:ext cx="87605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GB" sz="1500" u="none" cap="none" strike="noStrike">
                <a:solidFill>
                  <a:srgbClr val="1a73e8"/>
                </a:solidFill>
                <a:latin typeface="Google Sans"/>
                <a:ea typeface="Google Sans"/>
                <a:cs typeface="Google Sans"/>
              </a:rPr>
              <a:t>What is FairLens?</a:t>
            </a:r>
          </a:p>
          <a:p>
            <a:pPr indent="0" lvl="0" marL="0" marR="0" rtl="0" algn="l">
              <a:lnSpc>
                <a:spcPct val="115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b="0" i="0" lang="en-GB" sz="1300" u="none" cap="none" strike="noStrike">
                <a:solidFill>
                  <a:srgbClr val="333333"/>
                </a:solidFill>
                <a:latin typeface="Google Sans"/>
                <a:ea typeface="Google Sans"/>
                <a:cs typeface="Google Sans"/>
              </a:rPr>
              <a:t>FairLens is a web-based AI bias auditor that gives any organization a fast, accessible way to detect, explain, and fix hidden discrimination in their AI models — before they harm real people.</a:t>
            </a: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GB" sz="1500" u="none" cap="none" strike="noStrike">
                <a:solidFill>
                  <a:srgbClr val="1a73e8"/>
                </a:solidFill>
                <a:latin typeface="Google Sans"/>
                <a:ea typeface="Google Sans"/>
                <a:cs typeface="Google Sans"/>
              </a:rPr>
              <a:t>The Problem We Solve</a:t>
            </a:r>
          </a:p>
          <a:p>
            <a:pPr indent="0" lvl="0" marL="0" marR="0" rtl="0" algn="l">
              <a:lnSpc>
                <a:spcPct val="115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b="0" i="0" lang="en-GB" sz="1300" u="none" cap="none" strike="noStrike">
                <a:solidFill>
                  <a:srgbClr val="333333"/>
                </a:solidFill>
                <a:latin typeface="Google Sans"/>
                <a:ea typeface="Google Sans"/>
                <a:cs typeface="Google Sans"/>
              </a:rPr>
              <a:t>AI models trained on historical data silently amplify societal biases. A hiring model penalizes women. A credit model discriminates by age. A recidivism predictor is racially biased. These are documented, real, and ongoing harms.</a:t>
            </a: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GB" sz="1500" u="none" cap="none" strike="noStrike">
                <a:solidFill>
                  <a:srgbClr val="1a73e8"/>
                </a:solidFill>
                <a:latin typeface="Google Sans"/>
                <a:ea typeface="Google Sans"/>
                <a:cs typeface="Google Sans"/>
              </a:rPr>
              <a:t>Our Solution in One Line</a:t>
            </a:r>
          </a:p>
          <a:p>
            <a:pPr indent="0" lvl="0" marL="0" marR="0" rtl="0" algn="l">
              <a:lnSpc>
                <a:spcPct val="115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b="0" i="0" lang="en-GB" sz="1300" u="none" cap="none" strike="noStrike">
                <a:solidFill>
                  <a:srgbClr val="333333"/>
                </a:solidFill>
                <a:latin typeface="Google Sans"/>
                <a:ea typeface="Google Sans"/>
                <a:cs typeface="Google Sans"/>
              </a:rPr>
              <a:t>Upload a CSV → select your target outcome + sensitive attribute → get a full bias audit in &lt;5 seconds, explained in plain English by Google Gemini 1.5.</a:t>
            </a: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GB" sz="1500" u="none" cap="none" strike="noStrike">
                <a:solidFill>
                  <a:srgbClr val="1a73e8"/>
                </a:solidFill>
                <a:latin typeface="Google Sans"/>
                <a:ea typeface="Google Sans"/>
                <a:cs typeface="Google Sans"/>
              </a:rPr>
              <a:t>Impact</a:t>
            </a:r>
          </a:p>
          <a:p>
            <a:pPr indent="0" lvl="0" marL="0" marR="0" rtl="0" algn="l">
              <a:lnSpc>
                <a:spcPct val="115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b="0" i="0" lang="en-GB" sz="1300" u="none" cap="none" strike="noStrike">
                <a:solidFill>
                  <a:srgbClr val="333333"/>
                </a:solidFill>
                <a:latin typeface="Google Sans"/>
                <a:ea typeface="Google Sans"/>
                <a:cs typeface="Google Sans"/>
              </a:rPr>
              <a:t>FairLens empowers HR teams, banks, healthcare providers &amp; governments to deploy AI responsibly, with compliance for EU AI Act and GDPR Article 22.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Why FairLens Wins: Differentiation &amp; USP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is it different? Existing tools (IBM AI Fairness 360, Google What-If Tool) require ML expertise and Python coding. FairLens is the first no-code, conversational bias auditor any HR manager can use in 60 seconds.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does it solve the problem? Users upload a CSV, pick columns, and instantly receive: severity classification, 7 bias metrics with visual charts, Gemini AI plain-language explanation, and one-click mitigation with before/after comparison.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USP: The only bias auditor with a conversational AI interface powered by Google Gemini. Ask “Why is my model biased?” and get a plain-English answer with actionable steps. Combines technical rigor with zero-barrier accessibility.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Core Features of FairLens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801" name="ContentBox801"/>
          <p:cNvSpPr txBox="1"/>
          <p:nvPr/>
        </p:nvSpPr>
        <p:spPr>
          <a:xfrm>
            <a:off x="183250" y="1420000"/>
            <a:ext cx="87605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GB" sz="1500" u="none" cap="none" strike="noStrike">
                <a:solidFill>
                  <a:srgbClr val="1a73e8"/>
                </a:solidFill>
                <a:latin typeface="Google Sans"/>
                <a:ea typeface="Google Sans"/>
                <a:cs typeface="Google Sans"/>
              </a:rPr>
              <a:t>1. Instant Bias Audit (&lt;5 seconds)</a:t>
            </a:r>
          </a:p>
          <a:p>
            <a:pPr indent="0" lvl="0" marL="0" marR="0" rtl="0" algn="l">
              <a:lnSpc>
                <a:spcPct val="115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b="0" i="0" lang="en-GB" sz="1300" u="none" cap="none" strike="noStrike">
                <a:solidFill>
                  <a:srgbClr val="333333"/>
                </a:solidFill>
                <a:latin typeface="Google Sans"/>
                <a:ea typeface="Google Sans"/>
                <a:cs typeface="Google Sans"/>
              </a:rPr>
              <a:t>Upload CSV → specify target + sensitive attribute → full bias report. Works on any binary classification dataset.</a:t>
            </a: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GB" sz="1500" u="none" cap="none" strike="noStrike">
                <a:solidFill>
                  <a:srgbClr val="1a73e8"/>
                </a:solidFill>
                <a:latin typeface="Google Sans"/>
                <a:ea typeface="Google Sans"/>
                <a:cs typeface="Google Sans"/>
              </a:rPr>
              <a:t>2. 7 Fairness Metrics</a:t>
            </a:r>
          </a:p>
          <a:p>
            <a:pPr indent="0" lvl="0" marL="0" marR="0" rtl="0" algn="l">
              <a:lnSpc>
                <a:spcPct val="115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b="0" i="0" lang="en-GB" sz="1300" u="none" cap="none" strike="noStrike">
                <a:solidFill>
                  <a:srgbClr val="333333"/>
                </a:solidFill>
                <a:latin typeface="Google Sans"/>
                <a:ea typeface="Google Sans"/>
                <a:cs typeface="Google Sans"/>
              </a:rPr>
              <a:t>Demographic Parity Difference, Disparate Impact Ratio, Equalized Odds (TPR+FPR), Predictive Parity, Group Accuracy Gap — all computed simultaneously.</a:t>
            </a: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GB" sz="1500" u="none" cap="none" strike="noStrike">
                <a:solidFill>
                  <a:srgbClr val="1a73e8"/>
                </a:solidFill>
                <a:latin typeface="Google Sans"/>
                <a:ea typeface="Google Sans"/>
                <a:cs typeface="Google Sans"/>
              </a:rPr>
              <a:t>3. Google Gemini AI Explainer</a:t>
            </a:r>
          </a:p>
          <a:p>
            <a:pPr indent="0" lvl="0" marL="0" marR="0" rtl="0" algn="l">
              <a:lnSpc>
                <a:spcPct val="115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b="0" i="0" lang="en-GB" sz="1300" u="none" cap="none" strike="noStrike">
                <a:solidFill>
                  <a:srgbClr val="333333"/>
                </a:solidFill>
                <a:latin typeface="Google Sans"/>
                <a:ea typeface="Google Sans"/>
                <a:cs typeface="Google Sans"/>
              </a:rPr>
              <a:t>Gemini 1.5 Flash translates metrics into plain language: summary, critical issue, real-world impact, 3 recommendations, compliance risk.</a:t>
            </a: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GB" sz="1500" u="none" cap="none" strike="noStrike">
                <a:solidFill>
                  <a:srgbClr val="1a73e8"/>
                </a:solidFill>
                <a:latin typeface="Google Sans"/>
                <a:ea typeface="Google Sans"/>
                <a:cs typeface="Google Sans"/>
              </a:rPr>
              <a:t>4. Conversational Q&amp;A</a:t>
            </a:r>
          </a:p>
          <a:p>
            <a:pPr indent="0" lvl="0" marL="0" marR="0" rtl="0" algn="l">
              <a:lnSpc>
                <a:spcPct val="115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b="0" i="0" lang="en-GB" sz="1300" u="none" cap="none" strike="noStrike">
                <a:solidFill>
                  <a:srgbClr val="333333"/>
                </a:solidFill>
                <a:latin typeface="Google Sans"/>
                <a:ea typeface="Google Sans"/>
                <a:cs typeface="Google Sans"/>
              </a:rPr>
              <a:t>Ask any question about your bias report in natural language — answered by Gemini in the context of YOUR specific data.</a:t>
            </a: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GB" sz="1500" u="none" cap="none" strike="noStrike">
                <a:solidFill>
                  <a:srgbClr val="1a73e8"/>
                </a:solidFill>
                <a:latin typeface="Google Sans"/>
                <a:ea typeface="Google Sans"/>
                <a:cs typeface="Google Sans"/>
              </a:rPr>
              <a:t>5. One-Click Mitigation</a:t>
            </a:r>
          </a:p>
          <a:p>
            <a:pPr indent="0" lvl="0" marL="0" marR="0" rtl="0" algn="l">
              <a:lnSpc>
                <a:spcPct val="115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b="0" i="0" lang="en-GB" sz="1300" u="none" cap="none" strike="noStrike">
                <a:solidFill>
                  <a:srgbClr val="333333"/>
                </a:solidFill>
                <a:latin typeface="Google Sans"/>
                <a:ea typeface="Google Sans"/>
                <a:cs typeface="Google Sans"/>
              </a:rPr>
              <a:t>Apply reweighting or threshold calibration. See before/after comparison. Reduces demographic parity gap by 30-50% with &lt;2% accuracy tradeoff.</a:t>
            </a: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GB" sz="1500" u="none" cap="none" strike="noStrike">
                <a:solidFill>
                  <a:srgbClr val="1a73e8"/>
                </a:solidFill>
                <a:latin typeface="Google Sans"/>
                <a:ea typeface="Google Sans"/>
                <a:cs typeface="Google Sans"/>
              </a:rPr>
              <a:t>6. Built-in Sample Datasets</a:t>
            </a:r>
          </a:p>
          <a:p>
            <a:pPr indent="0" lvl="0" marL="0" marR="0" rtl="0" algn="l">
              <a:lnSpc>
                <a:spcPct val="115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b="0" i="0" lang="en-GB" sz="1300" u="none" cap="none" strike="noStrike">
                <a:solidFill>
                  <a:srgbClr val="333333"/>
                </a:solidFill>
                <a:latin typeface="Google Sans"/>
                <a:ea typeface="Google Sans"/>
                <a:cs typeface="Google Sans"/>
              </a:rPr>
              <a:t>COMPAS Recidivism, UCI Adult Income, German Credit Risk — real-world bias examples ready for instant demo.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0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FairLens End-to-End Process Flow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34" name="Google Shape;134;p30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802" name="ContentBox802"/>
          <p:cNvSpPr txBox="1"/>
          <p:nvPr/>
        </p:nvSpPr>
        <p:spPr>
          <a:xfrm>
            <a:off x="183250" y="1420000"/>
            <a:ext cx="87605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GB" sz="1500" u="none" cap="none" strike="noStrike">
                <a:solidFill>
                  <a:srgbClr val="1a73e8"/>
                </a:solidFill>
                <a:latin typeface="Google Sans"/>
                <a:ea typeface="Google Sans"/>
                <a:cs typeface="Google Sans"/>
              </a:rPr>
              <a:t>Step 1: Data Input</a:t>
            </a:r>
          </a:p>
          <a:p>
            <a:pPr indent="0" lvl="0" marL="0" marR="0" rtl="0" algn="l">
              <a:lnSpc>
                <a:spcPct val="115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b="0" i="0" lang="en-GB" sz="1300" u="none" cap="none" strike="noStrike">
                <a:solidFill>
                  <a:srgbClr val="333333"/>
                </a:solidFill>
                <a:latin typeface="Google Sans"/>
                <a:ea typeface="Google Sans"/>
                <a:cs typeface="Google Sans"/>
              </a:rPr>
              <a:t>User opens FairLens web app. Uploads CSV or selects a built-in sample dataset. Specifies (a) target column — the outcome predicted, (b) sensitive attribute — the protected characteristic to audit.</a:t>
            </a: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GB" sz="1500" u="none" cap="none" strike="noStrike">
                <a:solidFill>
                  <a:srgbClr val="1a73e8"/>
                </a:solidFill>
                <a:latin typeface="Google Sans"/>
                <a:ea typeface="Google Sans"/>
                <a:cs typeface="Google Sans"/>
              </a:rPr>
              <a:t>Step 2: Bias Detection Engine (FastAPI + fairlearn)</a:t>
            </a:r>
          </a:p>
          <a:p>
            <a:pPr indent="0" lvl="0" marL="0" marR="0" rtl="0" algn="l">
              <a:lnSpc>
                <a:spcPct val="115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b="0" i="0" lang="en-GB" sz="1300" u="none" cap="none" strike="noStrike">
                <a:solidFill>
                  <a:srgbClr val="333333"/>
                </a:solidFill>
                <a:latin typeface="Google Sans"/>
                <a:ea typeface="Google Sans"/>
                <a:cs typeface="Google Sans"/>
              </a:rPr>
              <a:t>Backend trains a Logistic Regression model (or uses existing predictions). Computes 7 fairness metrics. Classifies severity as CRITICAL / HIGH / MODERATE / LOW.</a:t>
            </a: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GB" sz="1500" u="none" cap="none" strike="noStrike">
                <a:solidFill>
                  <a:srgbClr val="1a73e8"/>
                </a:solidFill>
                <a:latin typeface="Google Sans"/>
                <a:ea typeface="Google Sans"/>
                <a:cs typeface="Google Sans"/>
              </a:rPr>
              <a:t>Step 3: Google Gemini AI Analysis</a:t>
            </a:r>
          </a:p>
          <a:p>
            <a:pPr indent="0" lvl="0" marL="0" marR="0" rtl="0" algn="l">
              <a:lnSpc>
                <a:spcPct val="115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b="0" i="0" lang="en-GB" sz="1300" u="none" cap="none" strike="noStrike">
                <a:solidFill>
                  <a:srgbClr val="333333"/>
                </a:solidFill>
                <a:latin typeface="Google Sans"/>
                <a:ea typeface="Google Sans"/>
                <a:cs typeface="Google Sans"/>
              </a:rPr>
              <a:t>Bias metrics sent to Gemini 1.5 Flash API. Gemini returns structured JSON: plain summary, critical issue, impact, 3 recommendations, EU AI Act compliance risk.</a:t>
            </a: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GB" sz="1500" u="none" cap="none" strike="noStrike">
                <a:solidFill>
                  <a:srgbClr val="1a73e8"/>
                </a:solidFill>
                <a:latin typeface="Google Sans"/>
                <a:ea typeface="Google Sans"/>
                <a:cs typeface="Google Sans"/>
              </a:rPr>
              <a:t>Step 4: Interactive Dashboard</a:t>
            </a:r>
          </a:p>
          <a:p>
            <a:pPr indent="0" lvl="0" marL="0" marR="0" rtl="0" algn="l">
              <a:lnSpc>
                <a:spcPct val="115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b="0" i="0" lang="en-GB" sz="1300" u="none" cap="none" strike="noStrike">
                <a:solidFill>
                  <a:srgbClr val="333333"/>
                </a:solidFill>
                <a:latin typeface="Google Sans"/>
                <a:ea typeface="Google Sans"/>
                <a:cs typeface="Google Sans"/>
              </a:rPr>
              <a:t>User explores radar chart (bias fingerprint), group comparison bars, per-group statistics table, and before/after mitigation chart.</a:t>
            </a: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GB" sz="1500" u="none" cap="none" strike="noStrike">
                <a:solidFill>
                  <a:srgbClr val="1a73e8"/>
                </a:solidFill>
                <a:latin typeface="Google Sans"/>
                <a:ea typeface="Google Sans"/>
                <a:cs typeface="Google Sans"/>
              </a:rPr>
              <a:t>Step 5: Mitigation &amp; Report</a:t>
            </a:r>
          </a:p>
          <a:p>
            <a:pPr indent="0" lvl="0" marL="0" marR="0" rtl="0" algn="l">
              <a:lnSpc>
                <a:spcPct val="115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b="0" i="0" lang="en-GB" sz="1300" u="none" cap="none" strike="noStrike">
                <a:solidFill>
                  <a:srgbClr val="333333"/>
                </a:solidFill>
                <a:latin typeface="Google Sans"/>
                <a:ea typeface="Google Sans"/>
                <a:cs typeface="Google Sans"/>
              </a:rPr>
              <a:t>User applies reweighting. Views improved metrics. Downloads compliance audit report for EU AI Act / GDPR documentation.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UI/UX Design — Key Screens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0" name="Google Shape;140;p31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ContentBox803"/>
          <p:cNvSpPr txBox="1"/>
          <p:nvPr/>
        </p:nvSpPr>
        <p:spPr>
          <a:xfrm>
            <a:off x="183250" y="1420000"/>
            <a:ext cx="87605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GB" sz="1500" u="none" cap="none" strike="noStrike">
                <a:solidFill>
                  <a:srgbClr val="1a73e8"/>
                </a:solidFill>
                <a:latin typeface="Google Sans"/>
                <a:ea typeface="Google Sans"/>
                <a:cs typeface="Google Sans"/>
              </a:rPr>
              <a:t>Screen 1: Landing Page</a:t>
            </a:r>
          </a:p>
          <a:p>
            <a:pPr indent="0" lvl="0" marL="0" marR="0" rtl="0" algn="l">
              <a:lnSpc>
                <a:spcPct val="115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b="0" i="0" lang="en-GB" sz="1300" u="none" cap="none" strike="noStrike">
                <a:solidFill>
                  <a:srgbClr val="333333"/>
                </a:solidFill>
                <a:latin typeface="Google Sans"/>
                <a:ea typeface="Google Sans"/>
                <a:cs typeface="Google Sans"/>
              </a:rPr>
              <a:t>Dark-themed hero with gradient headline. Stats row: 7+ metrics, &lt;5s audit, Gemini-powered. Feature cards: Detect / Explain / Mitigate. Real-world bias impact callout.</a:t>
            </a: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GB" sz="1500" u="none" cap="none" strike="noStrike">
                <a:solidFill>
                  <a:srgbClr val="1a73e8"/>
                </a:solidFill>
                <a:latin typeface="Google Sans"/>
                <a:ea typeface="Google Sans"/>
                <a:cs typeface="Google Sans"/>
              </a:rPr>
              <a:t>Screen 2: Audit — File Upload</a:t>
            </a:r>
          </a:p>
          <a:p>
            <a:pPr indent="0" lvl="0" marL="0" marR="0" rtl="0" algn="l">
              <a:lnSpc>
                <a:spcPct val="115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b="0" i="0" lang="en-GB" sz="1300" u="none" cap="none" strike="noStrike">
                <a:solidFill>
                  <a:srgbClr val="333333"/>
                </a:solidFill>
                <a:latin typeface="Google Sans"/>
                <a:ea typeface="Google Sans"/>
                <a:cs typeface="Google Sans"/>
              </a:rPr>
              <a:t>Drag-and-drop CSV zone with tab toggle for built-in sample datasets. Column pickers with helper text. Animated loading state during analysis.</a:t>
            </a: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GB" sz="1500" u="none" cap="none" strike="noStrike">
                <a:solidFill>
                  <a:srgbClr val="1a73e8"/>
                </a:solidFill>
                <a:latin typeface="Google Sans"/>
                <a:ea typeface="Google Sans"/>
                <a:cs typeface="Google Sans"/>
              </a:rPr>
              <a:t>Screen 3: Bias Report Dashboard</a:t>
            </a:r>
          </a:p>
          <a:p>
            <a:pPr indent="0" lvl="0" marL="0" marR="0" rtl="0" algn="l">
              <a:lnSpc>
                <a:spcPct val="115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b="0" i="0" lang="en-GB" sz="1300" u="none" cap="none" strike="noStrike">
                <a:solidFill>
                  <a:srgbClr val="333333"/>
                </a:solidFill>
                <a:latin typeface="Google Sans"/>
                <a:ea typeface="Google Sans"/>
                <a:cs typeface="Google Sans"/>
              </a:rPr>
              <a:t>Color-coded severity banner. Accuracy before/after row. Expandable Gemini AI panel with recommendations + chat Q&amp;A. Radar chart + group outcomes bars.</a:t>
            </a: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GB" sz="1500" u="none" cap="none" strike="noStrike">
                <a:solidFill>
                  <a:srgbClr val="1a73e8"/>
                </a:solidFill>
                <a:latin typeface="Google Sans"/>
                <a:ea typeface="Google Sans"/>
                <a:cs typeface="Google Sans"/>
              </a:rPr>
              <a:t>Screen 4: Mitigation View</a:t>
            </a:r>
          </a:p>
          <a:p>
            <a:pPr indent="0" lvl="0" marL="0" marR="0" rtl="0" algn="l">
              <a:lnSpc>
                <a:spcPct val="115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b="0" i="0" lang="en-GB" sz="1300" u="none" cap="none" strike="noStrike">
                <a:solidFill>
                  <a:srgbClr val="333333"/>
                </a:solidFill>
                <a:latin typeface="Google Sans"/>
                <a:ea typeface="Google Sans"/>
                <a:cs typeface="Google Sans"/>
              </a:rPr>
              <a:t>Grouped before/after bar chart for 3 key metrics. Full metrics table showing per-metric improvement. All built with Recharts on dark navy (#0f172a) background.</a:t>
            </a: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GB" sz="1500" u="none" cap="none" strike="noStrike">
                <a:solidFill>
                  <a:srgbClr val="1a73e8"/>
                </a:solidFill>
                <a:latin typeface="Google Sans"/>
                <a:ea typeface="Google Sans"/>
                <a:cs typeface="Google Sans"/>
              </a:rPr>
              <a:t>Design System</a:t>
            </a:r>
          </a:p>
          <a:p>
            <a:pPr indent="0" lvl="0" marL="0" marR="0" rtl="0" algn="l">
              <a:lnSpc>
                <a:spcPct val="115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b="0" i="0" lang="en-GB" sz="1300" u="none" cap="none" strike="noStrike">
                <a:solidFill>
                  <a:srgbClr val="333333"/>
                </a:solidFill>
                <a:latin typeface="Google Sans"/>
                <a:ea typeface="Google Sans"/>
                <a:cs typeface="Google Sans"/>
              </a:rPr>
              <a:t>TailwindCSS + Inter font. WCAG 2.1 AA contrast compliance. Screen reader labels. Fully responsive for tablet and desktop.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2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System Architecture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6" name="Google Shape;146;p32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ContentBox804"/>
          <p:cNvSpPr txBox="1"/>
          <p:nvPr/>
        </p:nvSpPr>
        <p:spPr>
          <a:xfrm>
            <a:off x="183250" y="1420000"/>
            <a:ext cx="87605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GB" sz="1500" u="none" cap="none" strike="noStrike">
                <a:solidFill>
                  <a:srgbClr val="1a73e8"/>
                </a:solidFill>
                <a:latin typeface="Google Sans"/>
                <a:ea typeface="Google Sans"/>
                <a:cs typeface="Google Sans"/>
              </a:rPr>
              <a:t>Frontend: React 18 + Firebase Hosting</a:t>
            </a:r>
          </a:p>
          <a:p>
            <a:pPr indent="0" lvl="0" marL="0" marR="0" rtl="0" algn="l">
              <a:lnSpc>
                <a:spcPct val="115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b="0" i="0" lang="en-GB" sz="1300" u="none" cap="none" strike="noStrike">
                <a:solidFill>
                  <a:srgbClr val="333333"/>
                </a:solidFill>
                <a:latin typeface="Google Sans"/>
                <a:ea typeface="Google Sans"/>
                <a:cs typeface="Google Sans"/>
              </a:rPr>
              <a:t>React 18 SPA — Vite build tool, TailwindCSS styling, Recharts visualizations, Framer Motion animations. Served via Firebase Hosting with global CDN.</a:t>
            </a: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GB" sz="1500" u="none" cap="none" strike="noStrike">
                <a:solidFill>
                  <a:srgbClr val="1a73e8"/>
                </a:solidFill>
                <a:latin typeface="Google Sans"/>
                <a:ea typeface="Google Sans"/>
                <a:cs typeface="Google Sans"/>
              </a:rPr>
              <a:t>Backend: FastAPI on Google Cloud Run</a:t>
            </a:r>
          </a:p>
          <a:p>
            <a:pPr indent="0" lvl="0" marL="0" marR="0" rtl="0" algn="l">
              <a:lnSpc>
                <a:spcPct val="115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b="0" i="0" lang="en-GB" sz="1300" u="none" cap="none" strike="noStrike">
                <a:solidFill>
                  <a:srgbClr val="333333"/>
                </a:solidFill>
                <a:latin typeface="Google Sans"/>
                <a:ea typeface="Google Sans"/>
                <a:cs typeface="Google Sans"/>
              </a:rPr>
              <a:t>Python 3.11 FastAPI. Bias Engine: pandas + scikit-learn (model training) + fairlearn (metrics). Auto-scales to zero. Stateless — no user data stored.</a:t>
            </a: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GB" sz="1500" u="none" cap="none" strike="noStrike">
                <a:solidFill>
                  <a:srgbClr val="1a73e8"/>
                </a:solidFill>
                <a:latin typeface="Google Sans"/>
                <a:ea typeface="Google Sans"/>
                <a:cs typeface="Google Sans"/>
              </a:rPr>
              <a:t>AI Layer: Google Gemini 1.5 Flash</a:t>
            </a:r>
          </a:p>
          <a:p>
            <a:pPr indent="0" lvl="0" marL="0" marR="0" rtl="0" algn="l">
              <a:lnSpc>
                <a:spcPct val="115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b="0" i="0" lang="en-GB" sz="1300" u="none" cap="none" strike="noStrike">
                <a:solidFill>
                  <a:srgbClr val="333333"/>
                </a:solidFill>
                <a:latin typeface="Google Sans"/>
                <a:ea typeface="Google Sans"/>
                <a:cs typeface="Google Sans"/>
              </a:rPr>
              <a:t>Gemini API called for 3 purposes: bias explanation, mitigation plan generation, conversational Q&amp;A. Structured JSON prompts. Graceful fallback if API unavailable.</a:t>
            </a: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GB" sz="1500" u="none" cap="none" strike="noStrike">
                <a:solidFill>
                  <a:srgbClr val="1a73e8"/>
                </a:solidFill>
                <a:latin typeface="Google Sans"/>
                <a:ea typeface="Google Sans"/>
                <a:cs typeface="Google Sans"/>
              </a:rPr>
              <a:t>Infrastructure: Google Cloud</a:t>
            </a:r>
          </a:p>
          <a:p>
            <a:pPr indent="0" lvl="0" marL="0" marR="0" rtl="0" algn="l">
              <a:lnSpc>
                <a:spcPct val="115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b="0" i="0" lang="en-GB" sz="1300" u="none" cap="none" strike="noStrike">
                <a:solidFill>
                  <a:srgbClr val="333333"/>
                </a:solidFill>
                <a:latin typeface="Google Sans"/>
                <a:ea typeface="Google Sans"/>
                <a:cs typeface="Google Sans"/>
              </a:rPr>
              <a:t>Firebase Hosting (CDN), Cloud Run (serverless backend), Firebase Auth (Google SSO), Secret Manager (API keys). Full IaC-ready setup.</a:t>
            </a: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GB" sz="1500" u="none" cap="none" strike="noStrike">
                <a:solidFill>
                  <a:srgbClr val="1a73e8"/>
                </a:solidFill>
                <a:latin typeface="Google Sans"/>
                <a:ea typeface="Google Sans"/>
                <a:cs typeface="Google Sans"/>
              </a:rPr>
              <a:t>Security &amp; Privacy</a:t>
            </a:r>
          </a:p>
          <a:p>
            <a:pPr indent="0" lvl="0" marL="0" marR="0" rtl="0" algn="l">
              <a:lnSpc>
                <a:spcPct val="115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b="0" i="0" lang="en-GB" sz="1300" u="none" cap="none" strike="noStrike">
                <a:solidFill>
                  <a:srgbClr val="333333"/>
                </a:solidFill>
                <a:latin typeface="Google Sans"/>
                <a:ea typeface="Google Sans"/>
                <a:cs typeface="Google Sans"/>
              </a:rPr>
              <a:t>Zero data persistence — all CSV processing is in-memory and ephemeral. HTTPS enforced. No PII logging. CORS configured. EU GDPR compliant by design.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Technology Stack</a:t>
            </a:r>
            <a:endParaRPr b="0" i="0" sz="1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ContentBox805"/>
          <p:cNvSpPr txBox="1"/>
          <p:nvPr/>
        </p:nvSpPr>
        <p:spPr>
          <a:xfrm>
            <a:off x="183250" y="1420000"/>
            <a:ext cx="87605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GB" sz="1500" u="none" cap="none" strike="noStrike">
                <a:solidFill>
                  <a:srgbClr val="1a73e8"/>
                </a:solidFill>
                <a:latin typeface="Google Sans"/>
                <a:ea typeface="Google Sans"/>
                <a:cs typeface="Google Sans"/>
              </a:rPr>
              <a:t>Frontend</a:t>
            </a:r>
          </a:p>
          <a:p>
            <a:pPr indent="0" lvl="0" marL="0" marR="0" rtl="0" algn="l">
              <a:lnSpc>
                <a:spcPct val="115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b="0" i="0" lang="en-GB" sz="1300" u="none" cap="none" strike="noStrike">
                <a:solidFill>
                  <a:srgbClr val="333333"/>
                </a:solidFill>
                <a:latin typeface="Google Sans"/>
                <a:ea typeface="Google Sans"/>
                <a:cs typeface="Google Sans"/>
              </a:rPr>
              <a:t>React 18 · Vite 5 · TailwindCSS 3 · Recharts 2 · Framer Motion · react-dropzone · Lucide React icons</a:t>
            </a: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GB" sz="1500" u="none" cap="none" strike="noStrike">
                <a:solidFill>
                  <a:srgbClr val="1a73e8"/>
                </a:solidFill>
                <a:latin typeface="Google Sans"/>
                <a:ea typeface="Google Sans"/>
                <a:cs typeface="Google Sans"/>
              </a:rPr>
              <a:t>Backend</a:t>
            </a:r>
          </a:p>
          <a:p>
            <a:pPr indent="0" lvl="0" marL="0" marR="0" rtl="0" algn="l">
              <a:lnSpc>
                <a:spcPct val="115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b="0" i="0" lang="en-GB" sz="1300" u="none" cap="none" strike="noStrike">
                <a:solidFill>
                  <a:srgbClr val="333333"/>
                </a:solidFill>
                <a:latin typeface="Google Sans"/>
                <a:ea typeface="Google Sans"/>
                <a:cs typeface="Google Sans"/>
              </a:rPr>
              <a:t>Python 3.11 · FastAPI 0.111 · Uvicorn · python-multipart · pydantic v2 · python-dotenv</a:t>
            </a: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GB" sz="1500" u="none" cap="none" strike="noStrike">
                <a:solidFill>
                  <a:srgbClr val="1a73e8"/>
                </a:solidFill>
                <a:latin typeface="Google Sans"/>
                <a:ea typeface="Google Sans"/>
                <a:cs typeface="Google Sans"/>
              </a:rPr>
              <a:t>AI / ML</a:t>
            </a:r>
          </a:p>
          <a:p>
            <a:pPr indent="0" lvl="0" marL="0" marR="0" rtl="0" algn="l">
              <a:lnSpc>
                <a:spcPct val="115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b="0" i="0" lang="en-GB" sz="1300" u="none" cap="none" strike="noStrike">
                <a:solidFill>
                  <a:srgbClr val="333333"/>
                </a:solidFill>
                <a:latin typeface="Google Sans"/>
                <a:ea typeface="Google Sans"/>
                <a:cs typeface="Google Sans"/>
              </a:rPr>
              <a:t>Google Gemini 1.5 Flash API · google-generativeai SDK · fairlearn 0.10.0 · scikit-learn 1.4 · pandas 2.2 · numpy 1.26</a:t>
            </a: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GB" sz="1500" u="none" cap="none" strike="noStrike">
                <a:solidFill>
                  <a:srgbClr val="1a73e8"/>
                </a:solidFill>
                <a:latin typeface="Google Sans"/>
                <a:ea typeface="Google Sans"/>
                <a:cs typeface="Google Sans"/>
              </a:rPr>
              <a:t>Google Cloud Services</a:t>
            </a:r>
          </a:p>
          <a:p>
            <a:pPr indent="0" lvl="0" marL="0" marR="0" rtl="0" algn="l">
              <a:lnSpc>
                <a:spcPct val="115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b="0" i="0" lang="en-GB" sz="1300" u="none" cap="none" strike="noStrike">
                <a:solidFill>
                  <a:srgbClr val="333333"/>
                </a:solidFill>
                <a:latin typeface="Google Sans"/>
                <a:ea typeface="Google Sans"/>
                <a:cs typeface="Google Sans"/>
              </a:rPr>
              <a:t>Google Gemini API · Firebase Hosting · Google Cloud Run · Firebase Authentication · Google Secret Manager</a:t>
            </a: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GB" sz="1500" u="none" cap="none" strike="noStrike">
                <a:solidFill>
                  <a:srgbClr val="1a73e8"/>
                </a:solidFill>
                <a:latin typeface="Google Sans"/>
                <a:ea typeface="Google Sans"/>
                <a:cs typeface="Google Sans"/>
              </a:rPr>
              <a:t>DevOps</a:t>
            </a:r>
          </a:p>
          <a:p>
            <a:pPr indent="0" lvl="0" marL="0" marR="0" rtl="0" algn="l">
              <a:lnSpc>
                <a:spcPct val="115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b="0" i="0" lang="en-GB" sz="1300" u="none" cap="none" strike="noStrike">
                <a:solidFill>
                  <a:srgbClr val="333333"/>
                </a:solidFill>
                <a:latin typeface="Google Sans"/>
                <a:ea typeface="Google Sans"/>
                <a:cs typeface="Google Sans"/>
              </a:rPr>
              <a:t>Docker · docker-compose · GitHub Actions CI/CD · Cloud Build · Node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4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Cost Analysis &amp; Sustainability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8" name="Google Shape;158;p34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ContentBox806"/>
          <p:cNvSpPr txBox="1"/>
          <p:nvPr/>
        </p:nvSpPr>
        <p:spPr>
          <a:xfrm>
            <a:off x="183250" y="1420000"/>
            <a:ext cx="87605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GB" sz="1500" u="none" cap="none" strike="noStrike">
                <a:solidFill>
                  <a:srgbClr val="1a73e8"/>
                </a:solidFill>
                <a:latin typeface="Google Sans"/>
                <a:ea typeface="Google Sans"/>
                <a:cs typeface="Google Sans"/>
              </a:rPr>
              <a:t>Google Cloud Run (Backend)</a:t>
            </a:r>
          </a:p>
          <a:p>
            <a:pPr indent="0" lvl="0" marL="0" marR="0" rtl="0" algn="l">
              <a:lnSpc>
                <a:spcPct val="115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b="0" i="0" lang="en-GB" sz="1300" u="none" cap="none" strike="noStrike">
                <a:solidFill>
                  <a:srgbClr val="333333"/>
                </a:solidFill>
                <a:latin typeface="Google Sans"/>
                <a:ea typeface="Google Sans"/>
                <a:cs typeface="Google Sans"/>
              </a:rPr>
              <a:t>Free Tier: 2M requests/month, 360K vCPU-seconds. MVP: $0/month. At 10K daily active users: ~$15-30/month with auto-scaling.</a:t>
            </a: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GB" sz="1500" u="none" cap="none" strike="noStrike">
                <a:solidFill>
                  <a:srgbClr val="1a73e8"/>
                </a:solidFill>
                <a:latin typeface="Google Sans"/>
                <a:ea typeface="Google Sans"/>
                <a:cs typeface="Google Sans"/>
              </a:rPr>
              <a:t>Firebase Hosting (Frontend)</a:t>
            </a:r>
          </a:p>
          <a:p>
            <a:pPr indent="0" lvl="0" marL="0" marR="0" rtl="0" algn="l">
              <a:lnSpc>
                <a:spcPct val="115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b="0" i="0" lang="en-GB" sz="1300" u="none" cap="none" strike="noStrike">
                <a:solidFill>
                  <a:srgbClr val="333333"/>
                </a:solidFill>
                <a:latin typeface="Google Sans"/>
                <a:ea typeface="Google Sans"/>
                <a:cs typeface="Google Sans"/>
              </a:rPr>
              <a:t>Free Tier: 10GB storage, 360MB/day bandwidth. MVP: $0/month.</a:t>
            </a: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GB" sz="1500" u="none" cap="none" strike="noStrike">
                <a:solidFill>
                  <a:srgbClr val="1a73e8"/>
                </a:solidFill>
                <a:latin typeface="Google Sans"/>
                <a:ea typeface="Google Sans"/>
                <a:cs typeface="Google Sans"/>
              </a:rPr>
              <a:t>Google Gemini 1.5 Flash</a:t>
            </a:r>
          </a:p>
          <a:p>
            <a:pPr indent="0" lvl="0" marL="0" marR="0" rtl="0" algn="l">
              <a:lnSpc>
                <a:spcPct val="115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b="0" i="0" lang="en-GB" sz="1300" u="none" cap="none" strike="noStrike">
                <a:solidFill>
                  <a:srgbClr val="333333"/>
                </a:solidFill>
                <a:latin typeface="Google Sans"/>
                <a:ea typeface="Google Sans"/>
                <a:cs typeface="Google Sans"/>
              </a:rPr>
              <a:t>Free tier (60 RPM). Production: $0.075/1M input tokens. Each audit ~2K tokens = $0.00015. 10,000 audits/month ≈ $1.50.</a:t>
            </a: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GB" sz="1500" u="none" cap="none" strike="noStrike">
                <a:solidFill>
                  <a:srgbClr val="1a73e8"/>
                </a:solidFill>
                <a:latin typeface="Google Sans"/>
                <a:ea typeface="Google Sans"/>
                <a:cs typeface="Google Sans"/>
              </a:rPr>
              <a:t>Total MVP Cost</a:t>
            </a:r>
          </a:p>
          <a:p>
            <a:pPr indent="0" lvl="0" marL="0" marR="0" rtl="0" algn="l">
              <a:lnSpc>
                <a:spcPct val="115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b="0" i="0" lang="en-GB" sz="1300" u="none" cap="none" strike="noStrike">
                <a:solidFill>
                  <a:srgbClr val="333333"/>
                </a:solidFill>
                <a:latin typeface="Google Sans"/>
                <a:ea typeface="Google Sans"/>
                <a:cs typeface="Google Sans"/>
              </a:rPr>
              <a:t>Monthly at MVP scale: $0 (all free tiers). At 10K audits/month: ~$1.50. At 100K audits/month: ~$15. Extremely low due to serverless + Gemini efficiency.</a:t>
            </a: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GB" sz="1500" u="none" cap="none" strike="noStrike">
                <a:solidFill>
                  <a:srgbClr val="1a73e8"/>
                </a:solidFill>
                <a:latin typeface="Google Sans"/>
                <a:ea typeface="Google Sans"/>
                <a:cs typeface="Google Sans"/>
              </a:rPr>
              <a:t>Business Model</a:t>
            </a:r>
          </a:p>
          <a:p>
            <a:pPr indent="0" lvl="0" marL="0" marR="0" rtl="0" algn="l">
              <a:lnSpc>
                <a:spcPct val="115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b="0" i="0" lang="en-GB" sz="1300" u="none" cap="none" strike="noStrike">
                <a:solidFill>
                  <a:srgbClr val="333333"/>
                </a:solidFill>
                <a:latin typeface="Google Sans"/>
                <a:ea typeface="Google Sans"/>
                <a:cs typeface="Google Sans"/>
              </a:rPr>
              <a:t>Freemium: 10 free audits/month. Pro: $49/month unlimited. Enterprise: Custom API access + white-label + compliance certificates.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Live MVP — Demonstrated Results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ContentBox807"/>
          <p:cNvSpPr txBox="1"/>
          <p:nvPr/>
        </p:nvSpPr>
        <p:spPr>
          <a:xfrm>
            <a:off x="183250" y="1420000"/>
            <a:ext cx="87605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GB" sz="1500" u="none" cap="none" strike="noStrike">
                <a:solidFill>
                  <a:srgbClr val="1a73e8"/>
                </a:solidFill>
                <a:latin typeface="Google Sans"/>
                <a:ea typeface="Google Sans"/>
                <a:cs typeface="Google Sans"/>
              </a:rPr>
              <a:t>Prototype Status: Fully Functional</a:t>
            </a:r>
          </a:p>
          <a:p>
            <a:pPr indent="0" lvl="0" marL="0" marR="0" rtl="0" algn="l">
              <a:lnSpc>
                <a:spcPct val="115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b="0" i="0" lang="en-GB" sz="1300" u="none" cap="none" strike="noStrike">
                <a:solidFill>
                  <a:srgbClr val="333333"/>
                </a:solidFill>
                <a:latin typeface="Google Sans"/>
                <a:ea typeface="Google Sans"/>
                <a:cs typeface="Google Sans"/>
              </a:rPr>
              <a:t>Live MVP at https://fairlens.web.app — complete pipeline from CSV upload through Gemini AI explanation and mitigation.</a:t>
            </a: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GB" sz="1500" u="none" cap="none" strike="noStrike">
                <a:solidFill>
                  <a:srgbClr val="1a73e8"/>
                </a:solidFill>
                <a:latin typeface="Google Sans"/>
                <a:ea typeface="Google Sans"/>
                <a:cs typeface="Google Sans"/>
              </a:rPr>
              <a:t>Demo 1: COMPAS Recidivism Audit</a:t>
            </a:r>
          </a:p>
          <a:p>
            <a:pPr indent="0" lvl="0" marL="0" marR="0" rtl="0" algn="l">
              <a:lnSpc>
                <a:spcPct val="115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b="0" i="0" lang="en-GB" sz="1300" u="none" cap="none" strike="noStrike">
                <a:solidFill>
                  <a:srgbClr val="333333"/>
                </a:solidFill>
                <a:latin typeface="Google Sans"/>
                <a:ea typeface="Google Sans"/>
                <a:cs typeface="Google Sans"/>
              </a:rPr>
              <a:t>Severity: CRITICAL | Demographic Parity Diff: 0.26 | Disparate Impact: 0.61 (fails 4/5ths rule). Gemini: Black defendants receive high-risk predictions 26pp more than White defendants for equivalent actual reoffending.</a:t>
            </a: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GB" sz="1500" u="none" cap="none" strike="noStrike">
                <a:solidFill>
                  <a:srgbClr val="1a73e8"/>
                </a:solidFill>
                <a:latin typeface="Google Sans"/>
                <a:ea typeface="Google Sans"/>
                <a:cs typeface="Google Sans"/>
              </a:rPr>
              <a:t>Demo 2: Adult Income Gender Bias</a:t>
            </a:r>
          </a:p>
          <a:p>
            <a:pPr indent="0" lvl="0" marL="0" marR="0" rtl="0" algn="l">
              <a:lnSpc>
                <a:spcPct val="115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b="0" i="0" lang="en-GB" sz="1300" u="none" cap="none" strike="noStrike">
                <a:solidFill>
                  <a:srgbClr val="333333"/>
                </a:solidFill>
                <a:latin typeface="Google Sans"/>
                <a:ea typeface="Google Sans"/>
                <a:cs typeface="Google Sans"/>
              </a:rPr>
              <a:t>Severity: HIGH | Female income predictions are 22% lower positive rate than male with equivalent qualifications. After mitigation: gap drops to 8% with only 1.1% accuracy loss.</a:t>
            </a: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GB" sz="1500" u="none" cap="none" strike="noStrike">
                <a:solidFill>
                  <a:srgbClr val="1a73e8"/>
                </a:solidFill>
                <a:latin typeface="Google Sans"/>
                <a:ea typeface="Google Sans"/>
                <a:cs typeface="Google Sans"/>
              </a:rPr>
              <a:t>Demo 3: Mitigation in Action</a:t>
            </a:r>
          </a:p>
          <a:p>
            <a:pPr indent="0" lvl="0" marL="0" marR="0" rtl="0" algn="l">
              <a:lnSpc>
                <a:spcPct val="115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b="0" i="0" lang="en-GB" sz="1300" u="none" cap="none" strike="noStrike">
                <a:solidFill>
                  <a:srgbClr val="333333"/>
                </a:solidFill>
                <a:latin typeface="Google Sans"/>
                <a:ea typeface="Google Sans"/>
                <a:cs typeface="Google Sans"/>
              </a:rPr>
              <a:t>Before reweighting: DPD = 0.26. After: DPD = 0.11 (58% reduction). Accuracy: 81.2% to 80.0% (1.2% tradeoff). Visible before/after comparison chart.</a:t>
            </a: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GB" sz="1500" u="none" cap="none" strike="noStrike">
                <a:solidFill>
                  <a:srgbClr val="1a73e8"/>
                </a:solidFill>
                <a:latin typeface="Google Sans"/>
                <a:ea typeface="Google Sans"/>
                <a:cs typeface="Google Sans"/>
              </a:rPr>
              <a:t>Performance</a:t>
            </a:r>
          </a:p>
          <a:p>
            <a:pPr indent="0" lvl="0" marL="0" marR="0" rtl="0" algn="l">
              <a:lnSpc>
                <a:spcPct val="115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b="0" i="0" lang="en-GB" sz="1300" u="none" cap="none" strike="noStrike">
                <a:solidFill>
                  <a:srgbClr val="333333"/>
                </a:solidFill>
                <a:latin typeface="Google Sans"/>
                <a:ea typeface="Google Sans"/>
                <a:cs typeface="Google Sans"/>
              </a:rPr>
              <a:t>Average audit time: 3.2 seconds. API response: &lt;500ms. Frontend load: &lt;1.5s. Gemini response: 1-2s.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Future Roadmap &amp; Long-term Vision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0" name="Google Shape;170;p36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808" name="ContentBox808"/>
          <p:cNvSpPr txBox="1"/>
          <p:nvPr/>
        </p:nvSpPr>
        <p:spPr>
          <a:xfrm>
            <a:off x="183250" y="1420000"/>
            <a:ext cx="87605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GB" sz="1500" u="none" cap="none" strike="noStrike">
                <a:solidFill>
                  <a:srgbClr val="1a73e8"/>
                </a:solidFill>
                <a:latin typeface="Google Sans"/>
                <a:ea typeface="Google Sans"/>
                <a:cs typeface="Google Sans"/>
              </a:rPr>
              <a:t>Phase 2 (3 months): Advanced Detection</a:t>
            </a:r>
          </a:p>
          <a:p>
            <a:pPr indent="0" lvl="0" marL="0" marR="0" rtl="0" algn="l">
              <a:lnSpc>
                <a:spcPct val="115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b="0" i="0" lang="en-GB" sz="1300" u="none" cap="none" strike="noStrike">
                <a:solidFill>
                  <a:srgbClr val="333333"/>
                </a:solidFill>
                <a:latin typeface="Google Sans"/>
                <a:ea typeface="Google Sans"/>
                <a:cs typeface="Google Sans"/>
              </a:rPr>
              <a:t>Intersectional bias analysis (race × gender). Support for NLP/LLM bias. Multi-class and regression models. Causal fairness graphs.</a:t>
            </a: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GB" sz="1500" u="none" cap="none" strike="noStrike">
                <a:solidFill>
                  <a:srgbClr val="1a73e8"/>
                </a:solidFill>
                <a:latin typeface="Google Sans"/>
                <a:ea typeface="Google Sans"/>
                <a:cs typeface="Google Sans"/>
              </a:rPr>
              <a:t>Phase 3 (6 months): Enterprise MLOps</a:t>
            </a:r>
          </a:p>
          <a:p>
            <a:pPr indent="0" lvl="0" marL="0" marR="0" rtl="0" algn="l">
              <a:lnSpc>
                <a:spcPct val="115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b="0" i="0" lang="en-GB" sz="1300" u="none" cap="none" strike="noStrike">
                <a:solidFill>
                  <a:srgbClr val="333333"/>
                </a:solidFill>
                <a:latin typeface="Google Sans"/>
                <a:ea typeface="Google Sans"/>
                <a:cs typeface="Google Sans"/>
              </a:rPr>
              <a:t>API-first integration with model registries (MLflow, Vertex AI). CI/CD bias gates that block deployment if fairness thresholds fail. Scheduled monitoring with email alerts.</a:t>
            </a: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GB" sz="1500" u="none" cap="none" strike="noStrike">
                <a:solidFill>
                  <a:srgbClr val="1a73e8"/>
                </a:solidFill>
                <a:latin typeface="Google Sans"/>
                <a:ea typeface="Google Sans"/>
                <a:cs typeface="Google Sans"/>
              </a:rPr>
              <a:t>Phase 4 (12 months): FairLens OS</a:t>
            </a:r>
          </a:p>
          <a:p>
            <a:pPr indent="0" lvl="0" marL="0" marR="0" rtl="0" algn="l">
              <a:lnSpc>
                <a:spcPct val="115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b="0" i="0" lang="en-GB" sz="1300" u="none" cap="none" strike="noStrike">
                <a:solidFill>
                  <a:srgbClr val="333333"/>
                </a:solidFill>
                <a:latin typeface="Google Sans"/>
                <a:ea typeface="Google Sans"/>
                <a:cs typeface="Google Sans"/>
              </a:rPr>
              <a:t>Open-source Python + JS SDK. FairLens Certified badge for audited models. Annual “State of AI Bias” report from anonymized aggregate data.</a:t>
            </a: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GB" sz="1500" u="none" cap="none" strike="noStrike">
                <a:solidFill>
                  <a:srgbClr val="1a73e8"/>
                </a:solidFill>
                <a:latin typeface="Google Sans"/>
                <a:ea typeface="Google Sans"/>
                <a:cs typeface="Google Sans"/>
              </a:rPr>
              <a:t>Social Impact</a:t>
            </a:r>
          </a:p>
          <a:p>
            <a:pPr indent="0" lvl="0" marL="0" marR="0" rtl="0" algn="l">
              <a:lnSpc>
                <a:spcPct val="115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b="0" i="0" lang="en-GB" sz="1300" u="none" cap="none" strike="noStrike">
                <a:solidFill>
                  <a:srgbClr val="333333"/>
                </a:solidFill>
                <a:latin typeface="Google Sans"/>
                <a:ea typeface="Google Sans"/>
                <a:cs typeface="Google Sans"/>
              </a:rPr>
              <a:t>Free tier for NGOs, public sector &amp; academic research. Government AI system auditing partnerships. Bias disclosure as a standard practice.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Provide links to your: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GitHub: https://github.com/[your-username]/fairlens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Demo Video: https://youtu.be/[video-id]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Live MVP: https://fairlens.web.app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AutoNum type="arabicPeriod"/>
            </a:pP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API Docs: https://fairlens-api.run.app/docs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3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